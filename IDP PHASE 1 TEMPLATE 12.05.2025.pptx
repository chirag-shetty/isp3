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12192000"/>
  <p:notesSz cx="6858000" cy="9144000"/>
  <p:embeddedFontLst>
    <p:embeddedFont>
      <p:font typeface="Robo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ihrJ6G5F8dKA6QRga9/3f7wncp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F7D966C-F9FA-44A5-A06C-5F8FF2A09C01}">
  <a:tblStyle styleId="{4F7D966C-F9FA-44A5-A06C-5F8FF2A09C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0c2262a6c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g3d0c2262a6c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0a579e62d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d0a579e62d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0a579e62d_1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0a579e62d_1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a579e62d_3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d0a579e62d_3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e7bf7b3afb_0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e7bf7b3afb_0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7bf7b3afb_0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7bf7b3afb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7bf7b3afb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7bf7b3afb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2568a53c1_4_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f2568a53c1_4_2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2568a53c1_4_2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7bf7b3afb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7bf7b3afb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e7bf7b3afb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f765439ae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df765439ae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df765439ae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2568a53c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2568a53c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2568a53c1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2568a53c1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2568a53c1_4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2568a53c1_4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f6e4525c9_2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df6e4525c9_2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df6e4525c9_2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2568a53c1_4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2568a53c1_4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f2568a53c1_4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0a579e62d_3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d0a579e62d_3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1"/>
          <p:cNvSpPr txBox="1"/>
          <p:nvPr>
            <p:ph type="title"/>
          </p:nvPr>
        </p:nvSpPr>
        <p:spPr>
          <a:xfrm>
            <a:off x="522300" y="12454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" type="body"/>
          </p:nvPr>
        </p:nvSpPr>
        <p:spPr>
          <a:xfrm>
            <a:off x="337667" y="2476667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1"/>
          <p:cNvSpPr txBox="1"/>
          <p:nvPr>
            <p:ph idx="12" type="sldNum"/>
          </p:nvPr>
        </p:nvSpPr>
        <p:spPr>
          <a:xfrm>
            <a:off x="11296611" y="62176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9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2"/>
          <p:cNvSpPr txBox="1"/>
          <p:nvPr>
            <p:ph type="title"/>
          </p:nvPr>
        </p:nvSpPr>
        <p:spPr>
          <a:xfrm>
            <a:off x="2564524" y="190500"/>
            <a:ext cx="77670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 u="none" cap="none" strike="noStrike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0" i="0" sz="28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4"/>
          <p:cNvSpPr txBox="1"/>
          <p:nvPr>
            <p:ph idx="1" type="body"/>
          </p:nvPr>
        </p:nvSpPr>
        <p:spPr>
          <a:xfrm>
            <a:off x="415600" y="1852801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○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■"/>
              <a:defRPr b="0" i="0" sz="14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11296611" y="62176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653667" y="600201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b="0" i="0" sz="57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11296611" y="62176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09700" lIns="109700" spcFirstLastPara="1" rIns="109700" wrap="square" tIns="109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Arial"/>
              <a:buNone/>
            </a:pPr>
            <a:r>
              <a:t/>
            </a:r>
            <a:endParaRPr sz="224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6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b="0" i="0" sz="504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16"/>
          <p:cNvSpPr txBox="1"/>
          <p:nvPr>
            <p:ph idx="1" type="subTitle"/>
          </p:nvPr>
        </p:nvSpPr>
        <p:spPr>
          <a:xfrm>
            <a:off x="354000" y="3737434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52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2" type="sldNum"/>
          </p:nvPr>
        </p:nvSpPr>
        <p:spPr>
          <a:xfrm>
            <a:off x="11296611" y="62176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17"/>
          <p:cNvSpPr txBox="1"/>
          <p:nvPr>
            <p:ph idx="12" type="sldNum"/>
          </p:nvPr>
        </p:nvSpPr>
        <p:spPr>
          <a:xfrm>
            <a:off x="11296611" y="62176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8"/>
          <p:cNvSpPr txBox="1"/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  <a:defRPr b="0" i="0" sz="1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18"/>
          <p:cNvSpPr txBox="1"/>
          <p:nvPr>
            <p:ph idx="1" type="body"/>
          </p:nvPr>
        </p:nvSpPr>
        <p:spPr>
          <a:xfrm>
            <a:off x="415600" y="4202968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18"/>
          <p:cNvSpPr txBox="1"/>
          <p:nvPr>
            <p:ph idx="12" type="sldNum"/>
          </p:nvPr>
        </p:nvSpPr>
        <p:spPr>
          <a:xfrm>
            <a:off x="11296611" y="6217624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_2">
  <p:cSld name="SECTION_HEADER_2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 txBox="1"/>
          <p:nvPr>
            <p:ph type="title"/>
          </p:nvPr>
        </p:nvSpPr>
        <p:spPr>
          <a:xfrm>
            <a:off x="972600" y="1763267"/>
            <a:ext cx="10251300" cy="20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3.png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0830" y="59348"/>
            <a:ext cx="1529369" cy="649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60329" y="59348"/>
            <a:ext cx="1860840" cy="34070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ieeexplore.ieee.org/document/10.1109/ACCESS.2025.3605387" TargetMode="External"/><Relationship Id="rId4" Type="http://schemas.openxmlformats.org/officeDocument/2006/relationships/hyperlink" Target="https://ieeexplore.ieee.org/document/10.1109/ACCESS.2025.3605387" TargetMode="External"/><Relationship Id="rId5" Type="http://schemas.openxmlformats.org/officeDocument/2006/relationships/hyperlink" Target="https://ieeexplore.ieee.org/document/10.1109/ACCESS.2025.3605387" TargetMode="External"/><Relationship Id="rId6" Type="http://schemas.openxmlformats.org/officeDocument/2006/relationships/hyperlink" Target="https://ieeexplore.ieee.org/document/10502527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ieeexplore.ieee.org/document/9141881" TargetMode="External"/><Relationship Id="rId4" Type="http://schemas.openxmlformats.org/officeDocument/2006/relationships/hyperlink" Target="https://ieeexplore.ieee.org/document/9141881" TargetMode="External"/><Relationship Id="rId9" Type="http://schemas.openxmlformats.org/officeDocument/2006/relationships/hyperlink" Target="https://ieeexplore.ieee.org/document/11008531" TargetMode="External"/><Relationship Id="rId5" Type="http://schemas.openxmlformats.org/officeDocument/2006/relationships/hyperlink" Target="https://ieeexplore.ieee.org/document/9141881" TargetMode="External"/><Relationship Id="rId6" Type="http://schemas.openxmlformats.org/officeDocument/2006/relationships/hyperlink" Target="https://ieeexplore.ieee.org/document/10465991" TargetMode="External"/><Relationship Id="rId7" Type="http://schemas.openxmlformats.org/officeDocument/2006/relationships/hyperlink" Target="https://ieeexplore.ieee.org/document/11008531" TargetMode="External"/><Relationship Id="rId8" Type="http://schemas.openxmlformats.org/officeDocument/2006/relationships/hyperlink" Target="https://ieeexplore.ieee.org/document/11008531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radar-blog.innosent.de/en/the-10-most-" TargetMode="External"/><Relationship Id="rId4" Type="http://schemas.openxmlformats.org/officeDocument/2006/relationships/hyperlink" Target="https://radar-blog.innosent.de/en/the-10-most-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5510" y="0"/>
            <a:ext cx="6070728" cy="381763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 txBox="1"/>
          <p:nvPr/>
        </p:nvSpPr>
        <p:spPr>
          <a:xfrm>
            <a:off x="178350" y="3950650"/>
            <a:ext cx="11835300" cy="303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Radar Fusion for Human Activity Recognition &amp; Fall Detection Using mmWave Radar using DL</a:t>
            </a:r>
            <a:endParaRPr b="1" sz="36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Chirag S Shetty - 1RV23CS077 | Spoorthy S - 1RV23CS305 | Nikhil A E - 1RV23EC089 | Poornachandra B R - 1RV23EC095</a:t>
            </a:r>
            <a:endParaRPr b="1" sz="17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 : Dr. Rajani Katiyar</a:t>
            </a:r>
            <a:endParaRPr b="1" sz="17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b="1" sz="17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7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Electronics and Communication Department</a:t>
            </a:r>
            <a:endParaRPr b="1" sz="17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"/>
          <p:cNvSpPr/>
          <p:nvPr/>
        </p:nvSpPr>
        <p:spPr>
          <a:xfrm>
            <a:off x="2582109" y="131214"/>
            <a:ext cx="68376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/>
          </a:p>
        </p:txBody>
      </p:sp>
      <p:sp>
        <p:nvSpPr>
          <p:cNvPr id="61" name="Google Shape;61;p2"/>
          <p:cNvSpPr txBox="1"/>
          <p:nvPr/>
        </p:nvSpPr>
        <p:spPr>
          <a:xfrm>
            <a:off x="842225" y="978300"/>
            <a:ext cx="10695600" cy="49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Falls among the elderly frequently go undetected, leading to delayed medical response and serious secondary injury.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Camera-based systems compromise privacy; wearables depend on user compliance -- both are impractical for continuous home monitoring.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Single-sensor radar solutions suffer from occlusions and multipath blind spots, reducing reliability in real-world environments.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This project addresses all three limitations through a dual-radar fusion system that is non-intrusive, placement-agnostic, and self-calibrating  requiring no manual setup.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00050" lvl="0" marL="457200" rtl="0" algn="just">
              <a:spcBef>
                <a:spcPts val="0"/>
              </a:spcBef>
              <a:spcAft>
                <a:spcPts val="0"/>
              </a:spcAft>
              <a:buSzPts val="2700"/>
              <a:buFont typeface="Times New Roman"/>
              <a:buChar char="●"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A CNN-Transformer-LSTM model analyses the fused 3D point cloud in real time, with fall alerts delivered instantly to a cloud-hosted caregiver dashboard.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"/>
          <p:cNvSpPr/>
          <p:nvPr/>
        </p:nvSpPr>
        <p:spPr>
          <a:xfrm>
            <a:off x="2582110" y="363442"/>
            <a:ext cx="66880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sz="32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26248" y="1197819"/>
            <a:ext cx="11734800" cy="131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68" name="Google Shape;68;p3"/>
          <p:cNvGraphicFramePr/>
          <p:nvPr/>
        </p:nvGraphicFramePr>
        <p:xfrm>
          <a:off x="322925" y="135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{4F7D966C-F9FA-44A5-A06C-5F8FF2A09C01}</a:tableStyleId>
              </a:tblPr>
              <a:tblGrid>
                <a:gridCol w="1960325"/>
                <a:gridCol w="1845525"/>
                <a:gridCol w="2626500"/>
                <a:gridCol w="2705125"/>
                <a:gridCol w="2500650"/>
              </a:tblGrid>
              <a:tr h="551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Publication / Year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 to the project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identified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/>
                </a:tc>
              </a:tr>
              <a:tr h="148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Real-Time Fall Detection With Hybrid CNN-LSTM Using IWR6843AOP FMCW Radar</a:t>
                      </a:r>
                      <a:endParaRPr sz="1100">
                        <a:uFill>
                          <a:noFill/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  <a:hlinkClick r:id="rId3"/>
                      </a:endParaRPr>
                    </a:p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/>
                        </a:rPr>
                        <a:t>DOI: 10.1109/ACCESS.2025.3605387 ↗</a:t>
                      </a:r>
                      <a:endParaRPr sz="1100">
                        <a:uFill>
                          <a:noFill/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  <a:hlinkClick r:id="rId5"/>
                      </a:endParaRPr>
                    </a:p>
                  </a:txBody>
                  <a:tcPr marT="85725" marB="85725" marR="95250" marL="95250"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Hybrid 1D CNN-LSTM on IWR6843AOP point cloud data — extracts 9 kinematic features (position, velocity, acceleration per axis), uses multithreaded pipeline for parallel acquisition and inference, achieves 96.7% real-time accuracy with 0.60s average detection delay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Most directly related paper — uses the exact same IWR6843AOP radar hardware as SafeSpace, same elderly care domain, same real-time requirement. Validates CNN-LSTM on IWR6843AOP point cloud as the baseline ML architecture your system builds upon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Runs entirely on local edge device — no cloud pipeline, no MQTT transmission, no remote dashboard. Binary fall/no-fall only — no routine learning, no proactive risk scoring. Single-subject monitoring only (explicitly stated as future work). SafeSpace extends all these limitations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88725"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Based Human Activity Recognition in Smart Home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ieeexplore ↗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T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Conference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T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FCN-LSTM hybrid combining spatial feature extraction and temporal modelling for smart home activity classification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T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Justifies temporal ML modelling in SafeSpace's pipeline for sequential zone-visit patterns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T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large labeled training dataset — impractical for new deployments. No unsupervised bootstrapping for cold-start users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T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0c2262a6c_0_18"/>
          <p:cNvSpPr/>
          <p:nvPr/>
        </p:nvSpPr>
        <p:spPr>
          <a:xfrm>
            <a:off x="2582110" y="363442"/>
            <a:ext cx="6687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sz="32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" name="Google Shape;74;g3d0c2262a6c_0_18"/>
          <p:cNvGraphicFramePr/>
          <p:nvPr/>
        </p:nvGraphicFramePr>
        <p:xfrm>
          <a:off x="346913" y="166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{4F7D966C-F9FA-44A5-A06C-5F8FF2A09C01}</a:tableStyleId>
              </a:tblPr>
              <a:tblGrid>
                <a:gridCol w="2466500"/>
                <a:gridCol w="1900100"/>
                <a:gridCol w="2403400"/>
                <a:gridCol w="2434875"/>
                <a:gridCol w="2246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Publication / Year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 to the project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 identified</a:t>
                      </a:r>
                      <a:endParaRPr b="1" sz="16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of Real-Time Monitoring Platform for IoT Based on Cloud Platform</a:t>
                      </a:r>
                      <a:endParaRPr sz="1100">
                        <a:uFill>
                          <a:noFill/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  <a:hlinkClick r:id="rId3"/>
                      </a:endParaRPr>
                    </a:p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/>
                        </a:rPr>
                        <a:t>ieeexplore.ieee.org/document/9141881 ↗</a:t>
                      </a:r>
                      <a:endParaRPr sz="1100">
                        <a:uFill>
                          <a:noFill/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  <a:hlinkClick r:id="rId5"/>
                      </a:endParaRPr>
                    </a:p>
                  </a:txBody>
                  <a:tcPr marT="85725" marB="85725" marR="95250" marL="952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Xplore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2020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Proposes MQTT + Redis + WebSocket cloud platform for IoT device data collection and real-time chart visualisation using E-Chart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Directly mirrors SafeSpace's architecture: MQTT ingestion → cloud processing → WebSocket push → real-time dashboard. Validates the full pipeline design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ML processing layer — raw data displayed without intelligence. No anomaly detection or alert logic built on top of the pipeline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Novel ML Based Fall Detection System using Accelerometer and Gyroscope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ieeexplore ↗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Xplore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5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ANN-based multi-class classifier detecting fall direction (forward/backward/left/right) vs no-fall from 3-axis data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Validates multi-class fall classification — basis for SafeSpace's risk severity scoring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personalization per individual. Requires physical device on body. Cannot monitor bathroom or private spaces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5250" marB="95250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for Next-Generation Smart Healthcare: A Comprehensive Survey</a:t>
                      </a:r>
                      <a:endParaRPr sz="1100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  <a:hlinkClick r:id="rId7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uFill>
                            <a:noFill/>
                          </a:u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ieeexplore.ieee.org/document/11008531 ↗</a:t>
                      </a:r>
                      <a:endParaRPr sz="1100">
                        <a:solidFill>
                          <a:schemeClr val="dk1"/>
                        </a:solidFill>
                        <a:uFill>
                          <a:noFill/>
                        </a:uFill>
                        <a:latin typeface="Times New Roman"/>
                        <a:ea typeface="Times New Roman"/>
                        <a:cs typeface="Times New Roman"/>
                        <a:sym typeface="Times New Roman"/>
                        <a:hlinkClick r:id="rId9">
                          <a:extLst>
                            <a:ext uri="{A12FA001-AC4F-418D-AE19-62706E023703}">
                              <ahyp:hlinkClr val="tx"/>
                            </a:ext>
                          </a:extLst>
                        </a:hlinkClick>
                      </a:endParaRPr>
                    </a:p>
                  </a:txBody>
                  <a:tcPr marT="85725" marB="85725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Journals &amp; Magazine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lnSpc>
                          <a:spcPct val="155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Comprehensive survey of IoT + AI + cloud integration for healthcare — covers real-time monitoring, data-driven diagnostics, and remote patient care architectures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Establishes cloud + IoT + AI as the validated modern healthcare monitoring architecture — exactly what SafeSpace implements for elder safety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5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Surveys generic healthcare IoT. Does not address elder-specific behavioural monitoring or proactive risk prediction from movement pattern data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85725" marB="85725" marR="95250" marL="9525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2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0a579e62d_2_0"/>
          <p:cNvSpPr/>
          <p:nvPr/>
        </p:nvSpPr>
        <p:spPr>
          <a:xfrm>
            <a:off x="2582110" y="363442"/>
            <a:ext cx="6687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sz="32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0" name="Google Shape;80;g3d0a579e62d_2_0"/>
          <p:cNvGraphicFramePr/>
          <p:nvPr/>
        </p:nvGraphicFramePr>
        <p:xfrm>
          <a:off x="157475" y="1094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{4F7D966C-F9FA-44A5-A06C-5F8FF2A09C01}</a:tableStyleId>
              </a:tblPr>
              <a:tblGrid>
                <a:gridCol w="2329350"/>
                <a:gridCol w="1613100"/>
                <a:gridCol w="2466075"/>
                <a:gridCol w="2820950"/>
                <a:gridCol w="2647575"/>
              </a:tblGrid>
              <a:tr h="40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Publication/Year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 to the Project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b="1"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8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Direction-Independent Human Activity Recognition Using a Distributed MIMO Radar System and Deep Learning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Proposes a distributed radar network to recognize human activities (like falling) from any angle, overcoming the blind spots of single-sensor setups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Directly validates our architecture. It proves that placing radars on opposite sides of a room significantly improves the accuracy of detecting complex movements like falls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Focuses heavily on centralized deep learning classification of raw signals, lacking a lightweight methodology for fusing processed, sparse </a:t>
                      </a:r>
                      <a:r>
                        <a:rPr i="1"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 clouds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at the edge before classification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Learning-Based Multiradar Fusion for Robust Real-Time Object Detection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Xplore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Demonstrates a framework for fusing data from multiple radars to maintain continuous tracking and overcome line-of-sight occlusions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Highlights the core benefit of our multi-radar setup: maintaining a high Signal-to-Noise Ratio (SNR) and continuous tracking even if furniture blocks one sensor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Optimized for high-speed, 2D planar movement in autonomous driving, missing the specific spatial alignment techniques required for opposite-facing, stationary indoor sensors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PointNet-Transformer Fusion Network for In-Cabin Occupancy Monitoring With mm-Wave Radar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Conference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Utilizes an advanced neural network architecture (PointNet + Transformers) specifically designed to process sparse, irregular mmWave point clouds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Provides excellent precedent for how to process and filter the exact type of sparse 3D point cloud data our radars will generate before sending it to the cloud dashboard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Designed for a single, confined perspective (a car interior). It does not address the geometric challenge of merging overlapping, multi-perspective point clouds across a larger room environment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Collision Avoidance in Healthcare Robotics Using mm-Wave Radar Fusion: A Hygienic and Fail-Safe Approach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Conference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2026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Integrates mmWave radar in healthcare settings, emphasizing it as a privacy-preserving and fail-safe alternative to optical sensors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</a:t>
                      </a: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validates mmWave technology for healthcare/fall detection because it preserves patient privacy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Relies on dynamic, moving reference frames (robotics) rather than establishing a fixed, static coordinate transformation matrix between stationary wall mounts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Attention-based Radar and Camera Fusion for Object Detection in Severe Conditions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CISDS</a:t>
                      </a: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Conference</a:t>
                      </a:r>
                      <a:endParaRPr sz="11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Fuses radar with camera feeds, using an attention mechanism to rely more heavily on radar when optical visibility drops (e.g., fog, darkness)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Serves as a strong counter-example. We can cite this to explain that while camera fusion is popular, your pure radar approach is necessary for indoor privacy and 24/7 dark-room reliability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Relies on visual anchors (camera data) to guide the fusion process, which cannot be applied to a purely homogeneous, blind (radar-only) coordinate alignment</a:t>
                      </a:r>
                      <a:endParaRPr sz="11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0a579e62d_10_20"/>
          <p:cNvSpPr/>
          <p:nvPr/>
        </p:nvSpPr>
        <p:spPr>
          <a:xfrm>
            <a:off x="2582110" y="363442"/>
            <a:ext cx="6687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  <a:endParaRPr b="1" sz="320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" name="Google Shape;86;g3d0a579e62d_10_20"/>
          <p:cNvGraphicFramePr/>
          <p:nvPr/>
        </p:nvGraphicFramePr>
        <p:xfrm>
          <a:off x="157475" y="1048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{4F7D966C-F9FA-44A5-A06C-5F8FF2A09C01}</a:tableStyleId>
              </a:tblPr>
              <a:tblGrid>
                <a:gridCol w="2329350"/>
                <a:gridCol w="1613100"/>
                <a:gridCol w="2466075"/>
                <a:gridCol w="2820950"/>
                <a:gridCol w="2647575"/>
              </a:tblGrid>
              <a:tr h="401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Publication/Year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Relevance to the Project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Gap</a:t>
                      </a:r>
                      <a:endParaRPr b="1"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1825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Transformer-Based Radar and Infrared Sensor Fusion for Multi-Target Tracking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Access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Combines kinematic data from radar with thermal signatures from infrared (IR) sensors to track multiple targets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Reinforces the elegance and cost-effectiveness of our approach: sticking to a homogenous sensor network (pure mmWave) simplifies the data fusion pipeline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Cross-modal techniques (combining kinematics with thermal data) do not translate to the specific geometric challenge of fusing two identical FMCW spatial datasets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Combined Deep learning architectures using Fusion Rules for Target Recognition in SAR images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Xplore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Applies complex fusion rules for target recognition in Synthetic Aperture Radar (SAR) imagery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 acknowledges that while fusion rules exist in macro-radar, they must be adapted for indoor point clouds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Algorithms designed for dense, macro-scale SAR imagery are too computationally heavy and incompatible with the highly sparse, irregular point cloud outputs of indoor FMCW radars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 Learning based Multi Sensor Data Fusion for Radar and IFF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Xplore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Fuses standard radar tracking with Identification Friend or Foe (IFF) transponders for aviation/defense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Highlights the specific challenge of our project: we must fuse data to detect passive human targets without them wearing any supplementary devices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Relies on cooperative signal tracking. Indoor fall detection systems must fuse data purely based on the physical geometry of uncooperative targets, without any active devices to assist matching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3900"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HumanandSmallAnimalDetection Using Multiple Millimeter-Wave Radars and Data Fusion: Enabling Safe Applications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IEEE Conference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Establish the baseline signal processing pipelines (FMCW chirp generation, FFTs) required to extract range, velocity, and angle data to form a 3D point cloud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Serves as the mathematical and hardware foundation , explaining how the raw analog signals are turned into usable digital data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These baseline methodologies operate in isolation; they do not account for the temporal synchronization needed when two independent hardware clocks capture a simultaneous event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 txBox="1"/>
          <p:nvPr>
            <p:ph type="title"/>
          </p:nvPr>
        </p:nvSpPr>
        <p:spPr>
          <a:xfrm>
            <a:off x="2249903" y="220229"/>
            <a:ext cx="8071256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&amp; OBJECTIVES</a:t>
            </a:r>
            <a:br>
              <a:rPr b="1" lang="en-US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sz="3200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241204" y="1188367"/>
            <a:ext cx="11709591" cy="51041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Problem Statement: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“Existing fall detection systems fail to simultaneously guarantee user privacy, deployment flexibility, multi-person coverage, and reliable detection accuracy in real-world indoor environments , leaving a critical gap in autonomous monitoring for the elderly.”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Objectives: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12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Develop a self-calibrating dual-radar fusion pipeline that merges two independent 60 GHz FMCW sensors into a single unified 3D point cloud, regardless of sensor placement.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Train a model on the fused point cloud to accurately detect and classify falls across multiple persons in real time.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Deploy a cloud-integrated monitoring dashboard that receives live radar telemetry, triggers instant alerts on fall detection, and logs events for caregiver review.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1800"/>
              <a:buFont typeface="Noto Sans Symbols"/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0a579e62d_3_2"/>
          <p:cNvSpPr/>
          <p:nvPr/>
        </p:nvSpPr>
        <p:spPr>
          <a:xfrm>
            <a:off x="4016744" y="146710"/>
            <a:ext cx="3582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</p:txBody>
      </p:sp>
      <p:pic>
        <p:nvPicPr>
          <p:cNvPr id="98" name="Google Shape;98;g3d0a579e62d_3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1900" y="731400"/>
            <a:ext cx="8163549" cy="61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/>
          <p:nvPr/>
        </p:nvSpPr>
        <p:spPr>
          <a:xfrm>
            <a:off x="4016744" y="146710"/>
            <a:ext cx="35830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/>
          </a:p>
        </p:txBody>
      </p:sp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9233" l="0" r="0" t="6902"/>
          <a:stretch/>
        </p:blipFill>
        <p:spPr>
          <a:xfrm>
            <a:off x="1963052" y="968850"/>
            <a:ext cx="8562276" cy="5653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 txBox="1"/>
          <p:nvPr>
            <p:ph type="title"/>
          </p:nvPr>
        </p:nvSpPr>
        <p:spPr>
          <a:xfrm>
            <a:off x="2564524" y="190500"/>
            <a:ext cx="7767145" cy="9441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TIMELINE</a:t>
            </a:r>
            <a:endParaRPr/>
          </a:p>
        </p:txBody>
      </p:sp>
      <p:graphicFrame>
        <p:nvGraphicFramePr>
          <p:cNvPr id="110" name="Google Shape;110;p7"/>
          <p:cNvGraphicFramePr/>
          <p:nvPr/>
        </p:nvGraphicFramePr>
        <p:xfrm>
          <a:off x="544063" y="11346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{4F7D966C-F9FA-44A5-A06C-5F8FF2A09C01}</a:tableStyleId>
              </a:tblPr>
              <a:tblGrid>
                <a:gridCol w="1860900"/>
                <a:gridCol w="9242975"/>
              </a:tblGrid>
              <a:tr h="54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Duration</a:t>
                      </a:r>
                      <a:endParaRPr b="1"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Phase / Activity</a:t>
                      </a:r>
                      <a:endParaRPr b="1"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 – 3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Literature review, AWR6843AOP firmware configuration, and Raspberry Pi 5 hardware interfacing.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4 – 7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Frame Synchronisation module, SVD + RANSAC Auto-Calibration loop, and drift detection logic.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8 – 11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Voxel Downsampling, Statistical Outlier Removal, and full dual-radar fusion pipeline integration and testing.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12 – 14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model training, evaluation against baselines, and HiveMQ / Render.com cloud integration.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4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15 – 16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React Dashboard development, end-to-end system integration testing, fall detection validation, and documentation.</a:t>
                      </a:r>
                      <a:endParaRPr sz="23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7bf7b3afb_0_3"/>
          <p:cNvSpPr txBox="1"/>
          <p:nvPr>
            <p:ph type="title"/>
          </p:nvPr>
        </p:nvSpPr>
        <p:spPr>
          <a:xfrm>
            <a:off x="401250" y="993015"/>
            <a:ext cx="7173000" cy="492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Hardware Layer: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Sensors: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2x Texas Instruments IWR6843AOP (60 GHz FMCW mmWave Radars).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Edge Compute: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Raspberry Pi 5 (handles 921,600 baud UART parsing and point cloud fusion).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Software &amp; Algorithmic Layer:</a:t>
            </a:r>
            <a:endParaRPr b="1"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Calibration &amp; Fusion: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Singular Value Decomposition (SVD) + RANSAC for automatic geometric alignment; Voxel Grid Downsampling &amp; SOR for noise filtering.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Deep Learning: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Hybrid </a:t>
            </a: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Transformer-CNN-LSTM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architecture processing 40-frame sliding windows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Cloud Backend: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FastAPI hosted on a Dock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erized Hugging Face Space.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Database: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Supabase (PostgreSQL) utilizing WebSocket Realtime channels.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US" sz="1800">
                <a:solidFill>
                  <a:schemeClr val="dk1"/>
                </a:solidFill>
                <a:highlight>
                  <a:schemeClr val="lt1"/>
                </a:highlight>
              </a:rPr>
              <a:t>Frontend UI:</a:t>
            </a: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</a:rPr>
              <a:t> React, Vite, Recharts (Dynamic Single Page Application).</a:t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17" name="Google Shape;117;g3e7bf7b3afb_0_3"/>
          <p:cNvSpPr txBox="1"/>
          <p:nvPr>
            <p:ph idx="1" type="body"/>
          </p:nvPr>
        </p:nvSpPr>
        <p:spPr>
          <a:xfrm>
            <a:off x="3122700" y="600150"/>
            <a:ext cx="5946600" cy="70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FF"/>
                </a:solidFill>
              </a:rPr>
              <a:t>Tools &amp; Techniques</a:t>
            </a:r>
            <a:endParaRPr sz="3200">
              <a:solidFill>
                <a:srgbClr val="0000FF"/>
              </a:solidFill>
            </a:endParaRPr>
          </a:p>
        </p:txBody>
      </p:sp>
      <p:pic>
        <p:nvPicPr>
          <p:cNvPr id="118" name="Google Shape;118;g3e7bf7b3afb_0_3"/>
          <p:cNvPicPr preferRelativeResize="0"/>
          <p:nvPr/>
        </p:nvPicPr>
        <p:blipFill rotWithShape="1">
          <a:blip r:embed="rId3">
            <a:alphaModFix/>
          </a:blip>
          <a:srcRect b="25128" l="0" r="0" t="25173"/>
          <a:stretch/>
        </p:blipFill>
        <p:spPr>
          <a:xfrm>
            <a:off x="8264400" y="1687382"/>
            <a:ext cx="3454025" cy="171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e7bf7b3afb_0_3"/>
          <p:cNvPicPr preferRelativeResize="0"/>
          <p:nvPr/>
        </p:nvPicPr>
        <p:blipFill rotWithShape="1">
          <a:blip r:embed="rId4">
            <a:alphaModFix/>
          </a:blip>
          <a:srcRect b="14742" l="0" r="0" t="12094"/>
          <a:stretch/>
        </p:blipFill>
        <p:spPr>
          <a:xfrm>
            <a:off x="8642300" y="3787172"/>
            <a:ext cx="2698225" cy="224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7bf7b3afb_0_19"/>
          <p:cNvSpPr txBox="1"/>
          <p:nvPr>
            <p:ph type="title"/>
          </p:nvPr>
        </p:nvSpPr>
        <p:spPr>
          <a:xfrm>
            <a:off x="3247225" y="293550"/>
            <a:ext cx="5568600" cy="831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FF"/>
                </a:solidFill>
              </a:rPr>
              <a:t>Work Progress so far</a:t>
            </a:r>
            <a:endParaRPr sz="3200">
              <a:solidFill>
                <a:srgbClr val="0000FF"/>
              </a:solidFill>
            </a:endParaRPr>
          </a:p>
        </p:txBody>
      </p:sp>
      <p:sp>
        <p:nvSpPr>
          <p:cNvPr id="126" name="Google Shape;126;g3e7bf7b3afb_0_19"/>
          <p:cNvSpPr txBox="1"/>
          <p:nvPr>
            <p:ph idx="1" type="body"/>
          </p:nvPr>
        </p:nvSpPr>
        <p:spPr>
          <a:xfrm>
            <a:off x="507450" y="1406025"/>
            <a:ext cx="111771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</a:rPr>
              <a:t>Single-Sensor System Complete: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  <a:t> Successfully developed, trained, and deployed the complete end-to-end fall detection pipeline using a single IWR6843AOP radar.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</a:rPr>
              <a:t>Reliable Fall Detection: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  <a:t> The single-radar setup accurately parses the binary TLV data, extracts the spatial features, and successfully detects falls via the Transformer-CNN-LSTM model.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</a:rPr>
              <a:t>Cloud &amp; Dashboard Deployed: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  <a:t> The FastAPI inference server (Hugging Face), Supabase database, and the React frontend dashboard are fully operational and responding to live single-sensor telemetry.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</a:rPr>
              <a:t>Dual-Sensor Architecture Initiated: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  <a:t> Began developing the SVD + RANSAC calibration pipeline to fuse two independent radars; theoretical framework and initial code structure are in place.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2568a53c1_4_22"/>
          <p:cNvSpPr txBox="1"/>
          <p:nvPr>
            <p:ph type="title"/>
          </p:nvPr>
        </p:nvSpPr>
        <p:spPr>
          <a:xfrm>
            <a:off x="2564524" y="190500"/>
            <a:ext cx="7767000" cy="94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Hardware/Software/Simulation complete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demonstration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f2568a53c1_4_22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7bf7b3afb_0_12"/>
          <p:cNvSpPr txBox="1"/>
          <p:nvPr>
            <p:ph type="title"/>
          </p:nvPr>
        </p:nvSpPr>
        <p:spPr>
          <a:xfrm>
            <a:off x="597125" y="1760025"/>
            <a:ext cx="110961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</a:rPr>
              <a:t>Accurate Single-Node Inference: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  <a:t> The deep learning model successfully distinguishes between normal human movement and sudden fall events using the 40-frame sliding window from the primary radar.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</a:rPr>
              <a:t>Real-Time UI Visualization: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  <a:t> The React dashboard successfully subscribes to Supabase WebSockets, turning the UI red the moment a fall is detected by the edge device with minimal latency.</a:t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-3556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</a:rPr>
              <a:t>Dual-Radar Calibration Prototype:</a:t>
            </a:r>
            <a:r>
              <a:rPr lang="en-US" sz="2000">
                <a:solidFill>
                  <a:schemeClr val="dk1"/>
                </a:solidFill>
                <a:highlight>
                  <a:schemeClr val="lt1"/>
                </a:highlight>
              </a:rPr>
              <a:t> Early tests of the SVD algorithms show that homogeneous transformation matrices can be computed to align separate coordinate systems, proving the dual-sensor concept is mathematically viable.</a:t>
            </a:r>
            <a:endParaRPr b="1" sz="2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40" name="Google Shape;140;g3e7bf7b3afb_0_12"/>
          <p:cNvSpPr txBox="1"/>
          <p:nvPr>
            <p:ph idx="1" type="body"/>
          </p:nvPr>
        </p:nvSpPr>
        <p:spPr>
          <a:xfrm>
            <a:off x="4147150" y="23265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FF"/>
                </a:solidFill>
              </a:rPr>
              <a:t>Results</a:t>
            </a:r>
            <a:endParaRPr sz="32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hance this slide" id="146" name="Google Shape;146;g3df765439ae_0_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625" y="0"/>
            <a:ext cx="122872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2568a53c1_0_7"/>
          <p:cNvSpPr txBox="1"/>
          <p:nvPr>
            <p:ph idx="1" type="body"/>
          </p:nvPr>
        </p:nvSpPr>
        <p:spPr>
          <a:xfrm>
            <a:off x="4147150" y="232650"/>
            <a:ext cx="3000000" cy="845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FF"/>
                </a:solidFill>
              </a:rPr>
              <a:t>Results</a:t>
            </a:r>
            <a:endParaRPr sz="3200">
              <a:solidFill>
                <a:srgbClr val="0000FF"/>
              </a:solidFill>
            </a:endParaRPr>
          </a:p>
        </p:txBody>
      </p:sp>
      <p:pic>
        <p:nvPicPr>
          <p:cNvPr id="153" name="Google Shape;153;g3f2568a53c1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223" y="1326350"/>
            <a:ext cx="11519549" cy="45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2568a53c1_4_0"/>
          <p:cNvSpPr txBox="1"/>
          <p:nvPr>
            <p:ph type="title"/>
          </p:nvPr>
        </p:nvSpPr>
        <p:spPr>
          <a:xfrm>
            <a:off x="2564524" y="190500"/>
            <a:ext cx="7767000" cy="94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60" name="Google Shape;160;g3f2568a53c1_4_0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f2568a53c1_4_0"/>
          <p:cNvSpPr txBox="1"/>
          <p:nvPr/>
        </p:nvSpPr>
        <p:spPr>
          <a:xfrm>
            <a:off x="4513350" y="1463150"/>
            <a:ext cx="5609400" cy="17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To conclude the project outcome interms of results achieved, limitations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and future work.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g3df6e4525c9_2_10" title="frontend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075" y="199100"/>
            <a:ext cx="5497552" cy="3221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df6e4525c9_2_10" title="frontend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075" y="3572950"/>
            <a:ext cx="5497550" cy="313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2568a53c1_4_14"/>
          <p:cNvSpPr txBox="1"/>
          <p:nvPr>
            <p:ph type="title"/>
          </p:nvPr>
        </p:nvSpPr>
        <p:spPr>
          <a:xfrm>
            <a:off x="2564524" y="190500"/>
            <a:ext cx="7767000" cy="944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QR Code for Video Demo and PPT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f2568a53c1_4_14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f2568a53c1_4_14"/>
          <p:cNvSpPr txBox="1"/>
          <p:nvPr/>
        </p:nvSpPr>
        <p:spPr>
          <a:xfrm>
            <a:off x="3807650" y="1083150"/>
            <a:ext cx="49401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"/>
          <p:cNvSpPr txBox="1"/>
          <p:nvPr>
            <p:ph type="title"/>
          </p:nvPr>
        </p:nvSpPr>
        <p:spPr>
          <a:xfrm>
            <a:off x="1881350" y="190499"/>
            <a:ext cx="87657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82" name="Google Shape;182;p8"/>
          <p:cNvSpPr txBox="1"/>
          <p:nvPr>
            <p:ph idx="1" type="body"/>
          </p:nvPr>
        </p:nvSpPr>
        <p:spPr>
          <a:xfrm>
            <a:off x="291000" y="744225"/>
            <a:ext cx="11610000" cy="5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[1] Y. Cui, F. Liu, X. Jing, and J. Mu, “Integrating sensing and communications for ubiquitous IoT: Applications, trends, and challenges,”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IEEE Netw.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vol. 35, no. 5, pp. 158–167, Sep./Oct. 2021.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[2] M. Henneberger, “The 10 most exceptional radar applications.” Accessed: Mar. 28, 2025. [Online]. Available:</a:t>
            </a:r>
            <a:r>
              <a:rPr lang="en-US" sz="1650"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</a:t>
            </a:r>
            <a:r>
              <a:rPr lang="en-US" sz="165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https://radar-blog.innosent.de/en/the-10-most-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 exceptional-radar-applications/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[3] D. Feng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“Deep multi-modal object detection and semantic segmentation for autonomous driving: Datasets, methods, and challenges,”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IEEE Trans. Intell. Transp. Syst.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vol. 22, no. 3, pp. 1341–1360, Mar. 2021.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[4] Z. Zhou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“Enhanced coherent DOA estimation in low SNR environments through contrastive learning,”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IEEE Trans. Instrum. Meas.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vol. 74, 2025, Art. no. 8504221.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[5] P. Reitz and C. Künzle, “DualRAD60 Dual FMCW Radar Data 60 GHz,” Mar. 2025, doi: 10.5281/zenodo.15063378.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[6] W. Kim, H. Cho, J. Kim, B. Kim, and S. Lee, “YOLO-based simultaneous target detection and classification in automotive FMCW radar systems,”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vol. 20, no. 10, Jan. 2020, Art. no. 2897.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[7] A. Kosuge, S. Suehiro, M. Hamada, and T. Kuroda, “mmWave-YOLO: A mmWave imaging radar-based real-time multiclass object recognition system for ADAS applications,”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IEEE Trans. Instrum. Meas.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vol. 71, May 2022, Art. no. 2509810.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[8] R. Nabati and H. Qi, “Radar-camera sensor fusion for joint object detection and distance estimation in autonomous vehicles,” in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Proc. 12th Workshop Plan., Perception, Navigation Intell. Veh.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2020, arXiv:2009.08428.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[9] Y. Kim, S. Kim, J. W. Choi, and D. Kum, “CRAFT: Camera-radar 3D object detection with spatio-contextual fusion transformer,” in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Proc. 37th AAAI Conf. Artif. Intell. (AAAI’23)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Nov. 2022, pp. 1160–1168.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[10] X. Sun, Y. Jiang, H. Qin, J. Li, and Y. Ji, “Camera-radar fusion with radar channel extension and Dual-CBAM-FPN for object detection,” </a:t>
            </a:r>
            <a:r>
              <a:rPr i="1" lang="en-US" sz="1650"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r>
              <a:rPr lang="en-US" sz="1650">
                <a:latin typeface="Times New Roman"/>
                <a:ea typeface="Times New Roman"/>
                <a:cs typeface="Times New Roman"/>
                <a:sym typeface="Times New Roman"/>
              </a:rPr>
              <a:t>, vol. 24, no. 16, Jan. 2024, Art. no. 5317.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0a579e62d_3_37"/>
          <p:cNvSpPr txBox="1"/>
          <p:nvPr>
            <p:ph type="title"/>
          </p:nvPr>
        </p:nvSpPr>
        <p:spPr>
          <a:xfrm>
            <a:off x="1881350" y="190499"/>
            <a:ext cx="8765700" cy="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/>
          </a:p>
        </p:txBody>
      </p:sp>
      <p:sp>
        <p:nvSpPr>
          <p:cNvPr id="188" name="Google Shape;188;g3d0a579e62d_3_37"/>
          <p:cNvSpPr txBox="1"/>
          <p:nvPr>
            <p:ph idx="1" type="body"/>
          </p:nvPr>
        </p:nvSpPr>
        <p:spPr>
          <a:xfrm>
            <a:off x="291000" y="668250"/>
            <a:ext cx="11610000" cy="59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[11] F. Fent, A. Palffy, and H. Caesar, “DPFT: Dual perspective fusion transformer for camera-radar-based object detection,”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Trans. Intell. Veh.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10, no. 11, pp. 4929–4941, Nov. 2025.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[12] J.-J. Hwang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“CramNet: Camera-radar fusion with ray-constrained cross-attention for robust 3D object detection,” in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17th Eur. Conf. Comput. Vis.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Tel Aviv, Israel, Oct. 2022, pp. 388–405.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[13] S. Woo, J. Park, J.-Y. Lee, and I. S. Kweon, “CBAM: Convolutional block attention module,” in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15th Eur. Conf. Comput. Vis.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Munich, Germany, Jul. 2018, pp. 3–19.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[14] P. Reitz, T. Veihelmann, N. Franchi, and M. Lübke, “Dual radar vision: A feature fusion approach for advanced object detection in IoT radar networks,”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Mach. Learn. with Appl.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21, Sep. 2025, Art. no. 100703.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[15] J. H. Lee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“Real-time fall detection based on FMCW radar using a deep convolutional neural network,”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Sens. J.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22, no. 10, pp. 9593–9602, May 2022.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[16] Z. Shi, H. Wang, J. Wang, and Z. Chen, “A CNN-LSTM model for human activity recognition using FMCW radar,” in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Int. Conf. Acoust., Speech Signal Process. (ICASSP)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May 2020, pp. 4537–4541.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[17] A. Alshehri, H. Alsubaie, and M. Alshahrani, “Non-intrusive fall detection system for elderly using mmWave radar and transformer-based deep learning,”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23, no. 12, Jan. 2023, Art. no. 5567.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[18] S. Zhang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“Dual-sensor fusion for robust indoor fall detection: A comprehensive review,”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Trans. Biomed. Eng.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70, no. 8, pp. 2489–2505, Aug. 2023.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[19] D. T. Pham, A. H. K. Kim, and S. Y. Lee, “A comparative study of deep learning models (CNN, LSTM, and CNN-LSTM) for human fall detection,”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J. Electr. Eng. Technol.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18, no. 4, pp. 2405–2415, Jul. 2023.</a:t>
            </a:r>
            <a:endParaRPr sz="16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[20] H. Liu, J. Li, and K. Chen, “FMCW radar-based fall detection system using a 3D point cloud and attention mechanism,” in </a:t>
            </a:r>
            <a:r>
              <a:rPr i="1"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Radar Conf.</a:t>
            </a:r>
            <a:r>
              <a:rPr lang="en-US" sz="16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May 2024, pp. 1–6.</a:t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Font typeface="Noto Sans Symbols"/>
              <a:buNone/>
            </a:pPr>
            <a:r>
              <a:t/>
            </a:r>
            <a:endParaRPr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3984" y="1124528"/>
            <a:ext cx="8906899" cy="5309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2025-01-30T10:05:46Z</dcterms:created>
  <dc:creator>sv m</dc:creator>
</cp:coreProperties>
</file>